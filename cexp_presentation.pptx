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ln w="25400">
              <a:solidFill>
                <a:srgbClr val="38BDF8"/>
              </a:solidFill>
            </a:ln>
          </c:spPr>
          <c:marker>
            <c:symbol val="none"/>
            <c:spPr>
              <a:solidFill>
                <a:srgbClr val="38BDF8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3138</c:v>
                </c:pt>
                <c:pt idx="1">
                  <c:v>3162</c:v>
                </c:pt>
                <c:pt idx="2">
                  <c:v>3031</c:v>
                </c:pt>
                <c:pt idx="3">
                  <c:v>2908</c:v>
                </c:pt>
                <c:pt idx="4">
                  <c:v>3087</c:v>
                </c:pt>
                <c:pt idx="5">
                  <c:v>3377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ln w="25400">
              <a:solidFill>
                <a:srgbClr val="A78BFA"/>
              </a:solidFill>
            </a:ln>
          </c:spPr>
          <c:marker>
            <c:symbol val="none"/>
            <c:spPr>
              <a:solidFill>
                <a:srgbClr val="A78BFA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14466</c:v>
                </c:pt>
                <c:pt idx="1">
                  <c:v>15028</c:v>
                </c:pt>
                <c:pt idx="2">
                  <c:v>11758</c:v>
                </c:pt>
                <c:pt idx="3">
                  <c:v>10652</c:v>
                </c:pt>
                <c:pt idx="4">
                  <c:v>13340</c:v>
                </c:pt>
                <c:pt idx="5">
                  <c:v>14140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P99</c:v>
                </c:pt>
              </c:strCache>
            </c:strRef>
          </c:tx>
          <c:spPr>
            <a:ln w="25400">
              <a:solidFill>
                <a:srgbClr val="F472B6"/>
              </a:solidFill>
            </a:ln>
          </c:spPr>
          <c:marker>
            <c:symbol val="none"/>
            <c:spPr>
              <a:solidFill>
                <a:srgbClr val="F472B6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4590</c:v>
                </c:pt>
                <c:pt idx="1">
                  <c:v>4630</c:v>
                </c:pt>
                <c:pt idx="2">
                  <c:v>4370</c:v>
                </c:pt>
                <c:pt idx="3">
                  <c:v>4092</c:v>
                </c:pt>
                <c:pt idx="4">
                  <c:v>4324</c:v>
                </c:pt>
                <c:pt idx="5">
                  <c:v>4688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</c:v>
                </c:pt>
              </c:strCache>
            </c:strRef>
          </c:tx>
          <c:spPr>
            <a:ln w="25400">
              <a:solidFill>
                <a:srgbClr val="34D399"/>
              </a:solidFill>
            </a:ln>
          </c:spPr>
          <c:marker>
            <c:symbol val="none"/>
            <c:spPr>
              <a:solidFill>
                <a:srgbClr val="34D399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1857</c:v>
                </c:pt>
                <c:pt idx="1">
                  <c:v>1862</c:v>
                </c:pt>
                <c:pt idx="2">
                  <c:v>1703</c:v>
                </c:pt>
                <c:pt idx="3">
                  <c:v>1633</c:v>
                </c:pt>
                <c:pt idx="4">
                  <c:v>1777</c:v>
                </c:pt>
                <c:pt idx="5">
                  <c:v>2035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  <a:spPr>
        <a:solidFill>
          <a:srgbClr val="1E293B"/>
        </a:solidFill>
      </a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Hits</c:v>
                </c:pt>
              </c:strCache>
            </c:strRef>
          </c:tx>
          <c:spPr>
            <a:solidFill>
              <a:srgbClr val="FB923C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53892</c:v>
                </c:pt>
                <c:pt idx="1">
                  <c:v>31585</c:v>
                </c:pt>
                <c:pt idx="2">
                  <c:v>29271</c:v>
                </c:pt>
                <c:pt idx="3">
                  <c:v>39966</c:v>
                </c:pt>
                <c:pt idx="4">
                  <c:v>38245</c:v>
                </c:pt>
                <c:pt idx="5">
                  <c:v>33165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ln w="25400">
              <a:solidFill>
                <a:srgbClr val="38BDF8"/>
              </a:solidFill>
            </a:ln>
          </c:spPr>
          <c:marker>
            <c:symbol val="none"/>
            <c:spPr>
              <a:solidFill>
                <a:srgbClr val="38BDF8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5001</c:v>
                </c:pt>
                <c:pt idx="1">
                  <c:v>4384</c:v>
                </c:pt>
                <c:pt idx="2">
                  <c:v>4581</c:v>
                </c:pt>
                <c:pt idx="3">
                  <c:v>4113</c:v>
                </c:pt>
                <c:pt idx="4">
                  <c:v>4431</c:v>
                </c:pt>
                <c:pt idx="5">
                  <c:v>3813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ln w="25400">
              <a:solidFill>
                <a:srgbClr val="A78BFA"/>
              </a:solidFill>
            </a:ln>
          </c:spPr>
          <c:marker>
            <c:symbol val="none"/>
            <c:spPr>
              <a:solidFill>
                <a:srgbClr val="A78BFA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21389</c:v>
                </c:pt>
                <c:pt idx="1">
                  <c:v>16477</c:v>
                </c:pt>
                <c:pt idx="2">
                  <c:v>19638</c:v>
                </c:pt>
                <c:pt idx="3">
                  <c:v>15587</c:v>
                </c:pt>
                <c:pt idx="4">
                  <c:v>17412</c:v>
                </c:pt>
                <c:pt idx="5">
                  <c:v>14922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P99</c:v>
                </c:pt>
              </c:strCache>
            </c:strRef>
          </c:tx>
          <c:spPr>
            <a:ln w="25400">
              <a:solidFill>
                <a:srgbClr val="F472B6"/>
              </a:solidFill>
            </a:ln>
          </c:spPr>
          <c:marker>
            <c:symbol val="none"/>
            <c:spPr>
              <a:solidFill>
                <a:srgbClr val="F472B6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5890</c:v>
                </c:pt>
                <c:pt idx="1">
                  <c:v>5936</c:v>
                </c:pt>
                <c:pt idx="2">
                  <c:v>6614</c:v>
                </c:pt>
                <c:pt idx="3">
                  <c:v>5607</c:v>
                </c:pt>
                <c:pt idx="4">
                  <c:v>6021</c:v>
                </c:pt>
                <c:pt idx="5">
                  <c:v>5215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</c:v>
                </c:pt>
              </c:strCache>
            </c:strRef>
          </c:tx>
          <c:spPr>
            <a:ln w="25400">
              <a:solidFill>
                <a:srgbClr val="34D399"/>
              </a:solidFill>
            </a:ln>
          </c:spPr>
          <c:marker>
            <c:symbol val="none"/>
            <c:spPr>
              <a:solidFill>
                <a:srgbClr val="34D399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3041</c:v>
                </c:pt>
                <c:pt idx="1">
                  <c:v>2511</c:v>
                </c:pt>
                <c:pt idx="2">
                  <c:v>2602</c:v>
                </c:pt>
                <c:pt idx="3">
                  <c:v>2406</c:v>
                </c:pt>
                <c:pt idx="4">
                  <c:v>2497</c:v>
                </c:pt>
                <c:pt idx="5">
                  <c:v>2282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  <a:spPr>
        <a:solidFill>
          <a:srgbClr val="1E293B"/>
        </a:solidFill>
      </a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Hits</c:v>
                </c:pt>
              </c:strCache>
            </c:strRef>
          </c:tx>
          <c:spPr>
            <a:solidFill>
              <a:srgbClr val="FB923C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10841</c:v>
                </c:pt>
                <c:pt idx="1">
                  <c:v>8502</c:v>
                </c:pt>
                <c:pt idx="2">
                  <c:v>7936</c:v>
                </c:pt>
                <c:pt idx="3">
                  <c:v>12133</c:v>
                </c:pt>
                <c:pt idx="4">
                  <c:v>10165</c:v>
                </c:pt>
                <c:pt idx="5">
                  <c:v>9572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ln w="25400">
              <a:solidFill>
                <a:srgbClr val="38BDF8"/>
              </a:solidFill>
            </a:ln>
          </c:spPr>
          <c:marker>
            <c:symbol val="none"/>
            <c:spPr>
              <a:solidFill>
                <a:srgbClr val="38BDF8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786</c:v>
                </c:pt>
                <c:pt idx="1">
                  <c:v>831</c:v>
                </c:pt>
                <c:pt idx="2">
                  <c:v>894</c:v>
                </c:pt>
                <c:pt idx="3">
                  <c:v>805</c:v>
                </c:pt>
                <c:pt idx="4">
                  <c:v>773</c:v>
                </c:pt>
                <c:pt idx="5">
                  <c:v>776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ln w="25400">
              <a:solidFill>
                <a:srgbClr val="A78BFA"/>
              </a:solidFill>
            </a:ln>
          </c:spPr>
          <c:marker>
            <c:symbol val="none"/>
            <c:spPr>
              <a:solidFill>
                <a:srgbClr val="A78BFA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1986</c:v>
                </c:pt>
                <c:pt idx="1">
                  <c:v>2922</c:v>
                </c:pt>
                <c:pt idx="2">
                  <c:v>1966</c:v>
                </c:pt>
                <c:pt idx="3">
                  <c:v>1856</c:v>
                </c:pt>
                <c:pt idx="4">
                  <c:v>1885</c:v>
                </c:pt>
                <c:pt idx="5">
                  <c:v>1921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P99</c:v>
                </c:pt>
              </c:strCache>
            </c:strRef>
          </c:tx>
          <c:spPr>
            <a:ln w="25400">
              <a:solidFill>
                <a:srgbClr val="F472B6"/>
              </a:solidFill>
            </a:ln>
          </c:spPr>
          <c:marker>
            <c:symbol val="none"/>
            <c:spPr>
              <a:solidFill>
                <a:srgbClr val="F472B6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1031</c:v>
                </c:pt>
                <c:pt idx="1">
                  <c:v>1183</c:v>
                </c:pt>
                <c:pt idx="2">
                  <c:v>1138</c:v>
                </c:pt>
                <c:pt idx="3">
                  <c:v>1039</c:v>
                </c:pt>
                <c:pt idx="4">
                  <c:v>1015</c:v>
                </c:pt>
                <c:pt idx="5">
                  <c:v>1023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</c:v>
                </c:pt>
              </c:strCache>
            </c:strRef>
          </c:tx>
          <c:spPr>
            <a:ln w="25400">
              <a:solidFill>
                <a:srgbClr val="34D399"/>
              </a:solidFill>
            </a:ln>
          </c:spPr>
          <c:marker>
            <c:symbol val="none"/>
            <c:spPr>
              <a:solidFill>
                <a:srgbClr val="34D399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47</c:v>
                </c:pt>
                <c:pt idx="1">
                  <c:v>42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  <a:spPr>
        <a:solidFill>
          <a:srgbClr val="1E293B"/>
        </a:solidFill>
      </a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Hits</c:v>
                </c:pt>
              </c:strCache>
            </c:strRef>
          </c:tx>
          <c:spPr>
            <a:solidFill>
              <a:srgbClr val="FB923C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105805</c:v>
                </c:pt>
                <c:pt idx="1">
                  <c:v>66222</c:v>
                </c:pt>
                <c:pt idx="2">
                  <c:v>82247</c:v>
                </c:pt>
                <c:pt idx="3">
                  <c:v>94415</c:v>
                </c:pt>
                <c:pt idx="4">
                  <c:v>88818</c:v>
                </c:pt>
                <c:pt idx="5">
                  <c:v>87229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500 Errors</c:v>
                </c:pt>
              </c:strCache>
            </c:strRef>
          </c:tx>
          <c:spPr>
            <a:solidFill>
              <a:srgbClr val="F87171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7</c:v>
                </c:pt>
                <c:pt idx="2">
                  <c:v>4</c:v>
                </c:pt>
                <c:pt idx="3">
                  <c:v>9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ln w="25400">
              <a:solidFill>
                <a:srgbClr val="38BDF8"/>
              </a:solidFill>
            </a:ln>
          </c:spPr>
          <c:marker>
            <c:symbol val="none"/>
            <c:spPr>
              <a:solidFill>
                <a:srgbClr val="38BDF8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893</c:v>
                </c:pt>
                <c:pt idx="1">
                  <c:v>907</c:v>
                </c:pt>
                <c:pt idx="2">
                  <c:v>832</c:v>
                </c:pt>
                <c:pt idx="3">
                  <c:v>809</c:v>
                </c:pt>
                <c:pt idx="4">
                  <c:v>805</c:v>
                </c:pt>
                <c:pt idx="5">
                  <c:v>816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ln w="25400">
              <a:solidFill>
                <a:srgbClr val="A78BFA"/>
              </a:solidFill>
            </a:ln>
          </c:spPr>
          <c:marker>
            <c:symbol val="none"/>
            <c:spPr>
              <a:solidFill>
                <a:srgbClr val="A78BFA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2177</c:v>
                </c:pt>
                <c:pt idx="1">
                  <c:v>4912</c:v>
                </c:pt>
                <c:pt idx="2">
                  <c:v>1902</c:v>
                </c:pt>
                <c:pt idx="3">
                  <c:v>1911</c:v>
                </c:pt>
                <c:pt idx="4">
                  <c:v>1864</c:v>
                </c:pt>
                <c:pt idx="5">
                  <c:v>1880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P99</c:v>
                </c:pt>
              </c:strCache>
            </c:strRef>
          </c:tx>
          <c:spPr>
            <a:ln w="25400">
              <a:solidFill>
                <a:srgbClr val="F472B6"/>
              </a:solidFill>
            </a:ln>
          </c:spPr>
          <c:marker>
            <c:symbol val="none"/>
            <c:spPr>
              <a:solidFill>
                <a:srgbClr val="F472B6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1089</c:v>
                </c:pt>
                <c:pt idx="1">
                  <c:v>1221</c:v>
                </c:pt>
                <c:pt idx="2">
                  <c:v>1022</c:v>
                </c:pt>
                <c:pt idx="3">
                  <c:v>1005</c:v>
                </c:pt>
                <c:pt idx="4">
                  <c:v>999</c:v>
                </c:pt>
                <c:pt idx="5">
                  <c:v>998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</c:v>
                </c:pt>
              </c:strCache>
            </c:strRef>
          </c:tx>
          <c:spPr>
            <a:ln w="25400">
              <a:solidFill>
                <a:srgbClr val="34D399"/>
              </a:solidFill>
            </a:ln>
          </c:spPr>
          <c:marker>
            <c:symbol val="none"/>
            <c:spPr>
              <a:solidFill>
                <a:srgbClr val="34D399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180</c:v>
                </c:pt>
                <c:pt idx="1">
                  <c:v>249</c:v>
                </c:pt>
                <c:pt idx="2">
                  <c:v>83</c:v>
                </c:pt>
                <c:pt idx="3">
                  <c:v>142</c:v>
                </c:pt>
                <c:pt idx="4">
                  <c:v>120</c:v>
                </c:pt>
                <c:pt idx="5">
                  <c:v>246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  <a:spPr>
        <a:solidFill>
          <a:srgbClr val="1E293B"/>
        </a:solidFill>
      </a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Hits</c:v>
                </c:pt>
              </c:strCache>
            </c:strRef>
          </c:tx>
          <c:spPr>
            <a:solidFill>
              <a:srgbClr val="FB923C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17324</c:v>
                </c:pt>
                <c:pt idx="1">
                  <c:v>10519</c:v>
                </c:pt>
                <c:pt idx="2">
                  <c:v>11725</c:v>
                </c:pt>
                <c:pt idx="3">
                  <c:v>13110</c:v>
                </c:pt>
                <c:pt idx="4">
                  <c:v>12002</c:v>
                </c:pt>
                <c:pt idx="5">
                  <c:v>11860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500 Errors</c:v>
                </c:pt>
              </c:strCache>
            </c:strRef>
          </c:tx>
          <c:spPr>
            <a:solidFill>
              <a:srgbClr val="F87171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9</c:v>
                </c:pt>
                <c:pt idx="2">
                  <c:v>9</c:v>
                </c:pt>
                <c:pt idx="3">
                  <c:v>18</c:v>
                </c:pt>
                <c:pt idx="4">
                  <c:v>14</c:v>
                </c:pt>
                <c:pt idx="5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Profile Summary</c:v>
                </c:pt>
              </c:strCache>
            </c:strRef>
          </c:tx>
          <c:spPr>
            <a:ln w="25400">
              <a:solidFill>
                <a:srgbClr val="38BDF8"/>
              </a:solidFill>
            </a:ln>
          </c:spPr>
          <c:marker>
            <c:symbol val="none"/>
            <c:spPr>
              <a:solidFill>
                <a:srgbClr val="38BDF8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1857</c:v>
                </c:pt>
                <c:pt idx="1">
                  <c:v>1862</c:v>
                </c:pt>
                <c:pt idx="2">
                  <c:v>1703</c:v>
                </c:pt>
                <c:pt idx="3">
                  <c:v>1633</c:v>
                </c:pt>
                <c:pt idx="4">
                  <c:v>1777</c:v>
                </c:pt>
                <c:pt idx="5">
                  <c:v>2035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</c:v>
                </c:pt>
              </c:strCache>
            </c:strRef>
          </c:tx>
          <c:spPr>
            <a:ln w="25400">
              <a:solidFill>
                <a:srgbClr val="A78BFA"/>
              </a:solidFill>
            </a:ln>
          </c:spPr>
          <c:marker>
            <c:symbol val="none"/>
            <c:spPr>
              <a:solidFill>
                <a:srgbClr val="A78BFA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3041</c:v>
                </c:pt>
                <c:pt idx="1">
                  <c:v>2511</c:v>
                </c:pt>
                <c:pt idx="2">
                  <c:v>2602</c:v>
                </c:pt>
                <c:pt idx="3">
                  <c:v>2406</c:v>
                </c:pt>
                <c:pt idx="4">
                  <c:v>2497</c:v>
                </c:pt>
                <c:pt idx="5">
                  <c:v>2282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ClientPreferenceSet</c:v>
                </c:pt>
              </c:strCache>
            </c:strRef>
          </c:tx>
          <c:spPr>
            <a:ln w="25400">
              <a:solidFill>
                <a:srgbClr val="34D399"/>
              </a:solidFill>
            </a:ln>
          </c:spPr>
          <c:marker>
            <c:symbol val="none"/>
            <c:spPr>
              <a:solidFill>
                <a:srgbClr val="34D399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47</c:v>
                </c:pt>
                <c:pt idx="1">
                  <c:v>42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Maintain Client Preference</c:v>
                </c:pt>
              </c:strCache>
            </c:strRef>
          </c:tx>
          <c:spPr>
            <a:ln w="25400">
              <a:solidFill>
                <a:srgbClr val="FB923C"/>
              </a:solidFill>
            </a:ln>
          </c:spPr>
          <c:marker>
            <c:symbol val="none"/>
            <c:spPr>
              <a:solidFill>
                <a:srgbClr val="FB923C"/>
              </a:solidFill>
            </c:spPr>
          </c:marke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180</c:v>
                </c:pt>
                <c:pt idx="1">
                  <c:v>249</c:v>
                </c:pt>
                <c:pt idx="2">
                  <c:v>83</c:v>
                </c:pt>
                <c:pt idx="3">
                  <c:v>142</c:v>
                </c:pt>
                <c:pt idx="4">
                  <c:v>120</c:v>
                </c:pt>
                <c:pt idx="5">
                  <c:v>246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  <a:spPr>
        <a:solidFill>
          <a:srgbClr val="1E293B"/>
        </a:solidFill>
      </a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Profile Summary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53892</c:v>
                </c:pt>
                <c:pt idx="1">
                  <c:v>31585</c:v>
                </c:pt>
                <c:pt idx="2">
                  <c:v>29271</c:v>
                </c:pt>
                <c:pt idx="3">
                  <c:v>39966</c:v>
                </c:pt>
                <c:pt idx="4">
                  <c:v>38245</c:v>
                </c:pt>
                <c:pt idx="5">
                  <c:v>33165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10841</c:v>
                </c:pt>
                <c:pt idx="1">
                  <c:v>8502</c:v>
                </c:pt>
                <c:pt idx="2">
                  <c:v>7936</c:v>
                </c:pt>
                <c:pt idx="3">
                  <c:v>12133</c:v>
                </c:pt>
                <c:pt idx="4">
                  <c:v>10165</c:v>
                </c:pt>
                <c:pt idx="5">
                  <c:v>9572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ClientPreferenceSet</c:v>
                </c:pt>
              </c:strCache>
            </c:strRef>
          </c:tx>
          <c:spPr>
            <a:solidFill>
              <a:srgbClr val="34D399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105805</c:v>
                </c:pt>
                <c:pt idx="1">
                  <c:v>66222</c:v>
                </c:pt>
                <c:pt idx="2">
                  <c:v>82247</c:v>
                </c:pt>
                <c:pt idx="3">
                  <c:v>94415</c:v>
                </c:pt>
                <c:pt idx="4">
                  <c:v>88818</c:v>
                </c:pt>
                <c:pt idx="5">
                  <c:v>87229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Maintain Client Preference</c:v>
                </c:pt>
              </c:strCache>
            </c:strRef>
          </c:tx>
          <c:spPr>
            <a:solidFill>
              <a:srgbClr val="FB923C"/>
            </a:solidFill>
          </c:spPr>
          <c:cat>
            <c:strRef>
              <c:f>Sheet1!$A$2:$A$7</c:f>
              <c:strCache>
                <c:ptCount val="6"/>
                <c:pt idx="0">
                  <c:v>Oct-2025</c:v>
                </c:pt>
                <c:pt idx="1">
                  <c:v>Nov-2025</c:v>
                </c:pt>
                <c:pt idx="2">
                  <c:v>Dec-2025</c:v>
                </c:pt>
                <c:pt idx="3">
                  <c:v>Jan-2026</c:v>
                </c:pt>
                <c:pt idx="4">
                  <c:v>Feb-2026</c:v>
                </c:pt>
                <c:pt idx="5">
                  <c:v>Mar-2026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17324</c:v>
                </c:pt>
                <c:pt idx="1">
                  <c:v>10519</c:v>
                </c:pt>
                <c:pt idx="2">
                  <c:v>11725</c:v>
                </c:pt>
                <c:pt idx="3">
                  <c:v>13110</c:v>
                </c:pt>
                <c:pt idx="4">
                  <c:v>12002</c:v>
                </c:pt>
                <c:pt idx="5">
                  <c:v>11860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  <a:spPr>
        <a:solidFill>
          <a:srgbClr val="1E293B"/>
        </a:solidFill>
      </a:spPr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CEXP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</a:rPr>
              <a:t>Product Performance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7315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Top 3 Business Functions — Last 6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Oct 2025 – 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840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3 Key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840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CEXP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840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PREPARED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April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6217920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1240" y="6217920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6217920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61320" y="6217920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6217920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14600" cy="5029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FRONTEND ·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Profile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→ Stable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04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1811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07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3117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10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13231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13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4449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416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226.1K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6576169200" y="1188720"/>
            <a:ext cx="2514600" cy="5029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6576306360" y="13258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FRONTEND ·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657630636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6576306360" y="1993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↓ Improving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6576260640" y="233172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6576352080" y="2404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6577998000" y="2404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2556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6576260640" y="283464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657635208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6577998000" y="2907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4387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6576260640" y="333756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657635208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6577998000" y="3410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17571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6576260640" y="384048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66576352080" y="3913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6577998000" y="3913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5880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6576260640" y="434340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6657635208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Hits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6577998000" y="4416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59.1K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3151881200" y="1188720"/>
            <a:ext cx="2514600" cy="5029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3152018360" y="13258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BACKEND ·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315201836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ClientPreferenceSet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3152018360" y="1993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↓ Improving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3151972640" y="233172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3152064080" y="2404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3153710000" y="2404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20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3151972640" y="283464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315206408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3153710000" y="2907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811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3151972640" y="333756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315206408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3153710000" y="3410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2089 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3151972640" y="384048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3152064080" y="3913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3153710000" y="3913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1072 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3151972640" y="434340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315206408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Hits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3153710000" y="4416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524.7K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3151972640" y="484632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33152064080" y="4919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500 Errors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3153710000" y="4919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42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99727593200" y="1188720"/>
            <a:ext cx="2514600" cy="5029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99727730360" y="13258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BACKEND · API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99727730360" y="16002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Maintain Client Preference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99727730360" y="1993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→ Stable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99727684640" y="233172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99727776080" y="2404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99729422000" y="2404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170 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99727684640" y="283464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9972777608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99729422000" y="2907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844 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99727684640" y="333756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9972777608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9729422000" y="3410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2441 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99727684640" y="384048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99727776080" y="3913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P99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99729422000" y="3913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1056 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99727684640" y="434340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9972777608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Hits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99729422000" y="4416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76.5K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99727684640" y="4846320"/>
            <a:ext cx="23317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99727776080" y="4919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500 Errors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99729422000" y="4919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1F5F9"/>
                </a:solidFill>
              </a:rPr>
              <a:t>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FRONTEND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Profile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FRONTEND ·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→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226.1K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6-Month Hits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Total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1811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3117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P90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4449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4792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RESPONSE TIME TRENDS (MS)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65960"/>
            <a:ext cx="7498079" cy="3657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02920" y="2011680"/>
          <a:ext cx="7406639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092440" y="17647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MONTHLY HITS (TRAFFIC)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965960"/>
            <a:ext cx="36576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138160" y="2011680"/>
          <a:ext cx="356616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Rectangle 28"/>
          <p:cNvSpPr/>
          <p:nvPr/>
        </p:nvSpPr>
        <p:spPr>
          <a:xfrm>
            <a:off x="8092440" y="384048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84048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389534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BEST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782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Jan-2026 — Avg 1633 ms, P99 4092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57200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4572000"/>
            <a:ext cx="36576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462686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HIGHEST LATENCY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809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Mar-2026 — Avg 2035 ms, P99 4688 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FRONTEND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FRONTEND ·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↓ Improving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59.1K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6-Month Hits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Total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2556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4387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P90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5880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4792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RESPONSE TIME TRENDS (MS)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65960"/>
            <a:ext cx="7498079" cy="3657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02920" y="2011680"/>
          <a:ext cx="7406639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092440" y="17647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MONTHLY HITS (TRAFFIC)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965960"/>
            <a:ext cx="36576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138160" y="2011680"/>
          <a:ext cx="356616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Rectangle 28"/>
          <p:cNvSpPr/>
          <p:nvPr/>
        </p:nvSpPr>
        <p:spPr>
          <a:xfrm>
            <a:off x="8092440" y="384048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84048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389534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BEST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782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Mar-2026 — Avg 2282 ms, P99 5215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57200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4572000"/>
            <a:ext cx="36576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462686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HIGHEST LATENCY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809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Oct-2025 — Avg 3041 ms, P99 5890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BACKEND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ClientPreferenceSet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BACKEND ·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↓ Improving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524.7K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6-Month Hits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Total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20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811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P90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1072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4792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RESPONSE TIME TRENDS (MS)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65960"/>
            <a:ext cx="7498079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02920" y="2011680"/>
          <a:ext cx="7406639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092440" y="17647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MONTHLY HITS (TRAFFIC)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96596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138160" y="2011680"/>
          <a:ext cx="356616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092440" y="3273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500 ERRORS PER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47472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8138160" y="3520440"/>
          <a:ext cx="3566160" cy="1280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2" name="Rectangle 31"/>
          <p:cNvSpPr/>
          <p:nvPr/>
        </p:nvSpPr>
        <p:spPr>
          <a:xfrm>
            <a:off x="8092440" y="498348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498348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503834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BEST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2212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Dec-2025 — Avg 1 ms, P99 1138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571500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5715000"/>
            <a:ext cx="36576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576986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HIGHEST LATENCY 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952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Oct-2025 — Avg 47 ms, P99 1031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BACKEND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Maintain Client Preference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BACKEND ·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502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→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76.5K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6-Month Hits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Total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170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Avg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844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P90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051560"/>
            <a:ext cx="26517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1056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47218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3677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</a:rPr>
              <a:t>6-month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4792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RESPONSE TIME TRENDS (MS)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65960"/>
            <a:ext cx="7498079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02920" y="2011680"/>
          <a:ext cx="7406639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092440" y="17647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MONTHLY HITS (TRAFFIC)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96596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138160" y="2011680"/>
          <a:ext cx="356616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092440" y="3273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500 ERRORS PER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474720"/>
            <a:ext cx="3657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8138160" y="3520440"/>
          <a:ext cx="3566160" cy="1280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2" name="Rectangle 31"/>
          <p:cNvSpPr/>
          <p:nvPr/>
        </p:nvSpPr>
        <p:spPr>
          <a:xfrm>
            <a:off x="8092440" y="498348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498348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503834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BEST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2212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Dec-2025 — Avg 83 ms, P99 1022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5715000"/>
            <a:ext cx="365760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5715000"/>
            <a:ext cx="36576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5769864"/>
            <a:ext cx="3520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HIGHEST LATENCY 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952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Nov-2025 — Avg 249 ms, P99 1221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All Functions —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RESPONSE TIME TREND (MS) — ALL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143000"/>
          <a:ext cx="53949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89611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TRAFFIC VOLUME (HITS) — ALL FUNCTIONS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1143000"/>
          <a:ext cx="53949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389120"/>
            <a:ext cx="2514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2514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Profile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→ 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749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Avg: 1811 ms   P99: 4449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035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Hits: 226.1K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6576169200" y="4389120"/>
            <a:ext cx="2514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6576169200" y="4389120"/>
            <a:ext cx="25146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6576306360" y="449884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6576306360" y="4800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↓ Improving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6576306360" y="50749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Avg: 2556 ms   P99: 5880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6576306360" y="53035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Hits: 59.1K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3151881200" y="4389120"/>
            <a:ext cx="2514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3151881200" y="4389120"/>
            <a:ext cx="25146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3152018360" y="449884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ClientPreferenceSet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3152018360" y="4800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↓ Improving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3152018360" y="50749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Avg: 20 ms   P99: 1072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3152018360" y="53035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Hits: 524.7K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9727593200" y="4389120"/>
            <a:ext cx="25146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99727593200" y="4389120"/>
            <a:ext cx="25146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9727730360" y="449884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Maintain Client Preference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9727730360" y="4800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→ Stable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9727730360" y="50749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Avg: 170 ms   P99: 1056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9727730360" y="53035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Hits: 76.5K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Key Takeaways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  Strengths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45720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Profile Summary: Stable performance — no significant degradation.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45720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Alerts: Response times improving over the 6-month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08376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08376"/>
            <a:ext cx="45720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ClientPreferenceSet: Response times improving over the 6-month period.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58183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58183"/>
            <a:ext cx="45720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962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Maintain Client Preference: Stable performance — no significant degradation.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  Areas to 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08760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08760"/>
            <a:ext cx="4572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ClientPreferenceSet: 42 total 500 errors — review monthly patterns.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58568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258568"/>
            <a:ext cx="4572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50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Maintain Client Preference: 83 total 500 errors — review monthly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11274552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120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RECOMMENDED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Monitor P99 spikes monthly to catch regressions early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Set alert thresholds on backend 500 error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Correlate high-latency months with deployment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Track hit growth to plan capacity for next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